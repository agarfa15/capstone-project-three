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4BD6D0-3358-49EF-846F-DCE4E489D94A}">
  <a:tblStyle styleId="{1A4BD6D0-3358-49EF-846F-DCE4E489D9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49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15" Type="http://schemas.openxmlformats.org/officeDocument/2006/relationships/image" Target="../media/image38.png"/><Relationship Id="rId14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5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52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55.png"/><Relationship Id="rId9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54.png"/><Relationship Id="rId5" Type="http://schemas.openxmlformats.org/officeDocument/2006/relationships/image" Target="../media/image37.png"/><Relationship Id="rId6" Type="http://schemas.openxmlformats.org/officeDocument/2006/relationships/image" Target="../media/image50.png"/><Relationship Id="rId7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43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8412" y="549190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-476250" y="4476750"/>
            <a:ext cx="2857500" cy="28575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3812" y="549190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452937" y="5553819"/>
            <a:ext cx="15144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Scope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Injectable Inventory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967537" y="5553819"/>
            <a:ext cx="13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endParaRPr sz="12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Arbia Garfa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5737" y="565383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62000" y="1423243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PROJECT REPORT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95300" y="1857523"/>
            <a:ext cx="1120140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Wrangling &amp; Analysis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 Ophthalmology Drug Tracking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286000" y="4406056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Integrating invoice, inventory, and claims data to uncover operational inefficiencies and maximize revenue recovery.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762000"/>
            <a:ext cx="48006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62000" y="1438275"/>
            <a:ext cx="457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1838325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High Cost of Care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254317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Ophthalmology practices manage high-cost injectable drugs (e.g., Eylea, Lucentis) that require precise inventory control.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383857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Any discrepancy between procurement and reimbursement results in significant direct revenue leakage.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13397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Project Goal: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64832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project integrates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invoices, dispense logs, and claims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into a unified framework to identify inefficiencies and prevent financial loss.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47825"/>
            <a:ext cx="33971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1647825"/>
            <a:ext cx="3397299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1647825"/>
            <a:ext cx="33971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350841"/>
            <a:ext cx="33971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275" y="4350841"/>
            <a:ext cx="3397299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32700" y="4350841"/>
            <a:ext cx="33971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646116"/>
            <a:ext cx="28066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19716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92550" y="19716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27975" y="19716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92550" y="4674691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27975" y="467469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250507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Data Integration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57275" y="2933700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Merge supplier, inventory, and billing datasets into a single source of truth.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92550" y="250507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Data Cleaning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92550" y="2933700"/>
            <a:ext cx="28067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Address duplicates, symbols in numeric fields, and missing values (42k+ gaps).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327975" y="250507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Operational Analysis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27975" y="2933700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 unscanned dispensed vials and quantify the exact revenue impact.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57275" y="5208091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Financial Analysis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57275" y="5636716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 precise Revenue, COGS, and Profit margins per vial.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692550" y="5208091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Statistical Insights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92550" y="5636716"/>
            <a:ext cx="28067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 hypotheses regarding reimbursement differences in denied vs. approved claims.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27975" y="5208091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Predictive Modeling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27975" y="5636716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Prepare clean datasets for ML models to predict future claim denials.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3100"/>
            <a:ext cx="50482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3100"/>
            <a:ext cx="50482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Methodology: Data Wrangling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095375" y="1800225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Normalization: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Stripped symbols (e.g., "$") from numeric fields like Purchase Price to ensure calculation accuracy.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95375" y="2943225"/>
            <a:ext cx="47148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Integration Strategy: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Merged datasets using key composite identifiers: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95375" y="5095875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Missing Data Strategy: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Addressed 42,786 missing values using forward-fill logic, reducing residual gaps to just 9.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95375" y="62007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Quality Check: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Verified 0 duplicates post-processing.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819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24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14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2198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809750" y="3609975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Invoice Number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809750" y="4105275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Vial Number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809750" y="4600575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Dispense ID</a:t>
            </a:r>
            <a:endParaRPr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6375" y="3629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6375" y="4124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6375" y="4619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47950"/>
            <a:ext cx="50482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7596187" y="4705350"/>
            <a:ext cx="285750" cy="381000"/>
          </a:xfrm>
          <a:prstGeom prst="roundRect">
            <a:avLst>
              <a:gd fmla="val 16667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929562" y="4324350"/>
            <a:ext cx="285750" cy="762000"/>
          </a:xfrm>
          <a:prstGeom prst="roundRect">
            <a:avLst>
              <a:gd fmla="val 16667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262937" y="3562350"/>
            <a:ext cx="285750" cy="15240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596312" y="3276600"/>
            <a:ext cx="285750" cy="180975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929687" y="3943350"/>
            <a:ext cx="285750" cy="1143000"/>
          </a:xfrm>
          <a:prstGeom prst="roundRect">
            <a:avLst>
              <a:gd fmla="val 16667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263062" y="4514850"/>
            <a:ext cx="285750" cy="57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9596437" y="4800600"/>
            <a:ext cx="285750" cy="285750"/>
          </a:xfrm>
          <a:prstGeom prst="roundRect">
            <a:avLst>
              <a:gd fmla="val 16667" name="adj"/>
            </a:avLst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929812" y="4991100"/>
            <a:ext cx="285750" cy="95250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62000" y="197167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Distributions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62000" y="2381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Histograms revealed that both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Purchase Prices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Claim Reimbursements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are positively skewed.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62000" y="35623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Correlation Findings: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95375" y="40576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Weak correlation observed between purchase price and reimbursement amount.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95375" y="485775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Minimal multicollinearity among numeric features, suggesting robust independent variables for modeling.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65570" y="2847975"/>
            <a:ext cx="48806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Purchase Price Distribution (Skewed)</a:t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76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8768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Statistical Verification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828800" y="2314723"/>
            <a:ext cx="8534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Hypothesis: "Do approved and denied claims differ significantly in reimbursement amount?"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615439" y="3655665"/>
            <a:ext cx="89611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 = 0.9831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828800" y="4427190"/>
            <a:ext cx="8534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Result: Fail to Reject H₀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828800" y="5048101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Interpretation: There is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statistically significant difference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the billed amounts between denied and approved claims. Denials are likely due to process errors, not cost thresholds.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07890"/>
            <a:ext cx="3365450" cy="2242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07890"/>
            <a:ext cx="3365450" cy="2242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7890"/>
            <a:ext cx="3365599" cy="22420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1143000" y="2846040"/>
            <a:ext cx="2603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F76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$1.98M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530250" y="3579465"/>
            <a:ext cx="1828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REVENUE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794200" y="2846040"/>
            <a:ext cx="2603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EF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$759.6K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824263" y="3579465"/>
            <a:ext cx="2543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COST OF GOODS SOLD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445400" y="2846040"/>
            <a:ext cx="2603599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$1.22M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9080450" y="3579465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 PROFIT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Financial Performance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503098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Despite operational leakage, the fundamental profitability of the inventory remains strong.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143000" y="3922365"/>
            <a:ext cx="260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(Reimbursed Claims)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4794200" y="3922365"/>
            <a:ext cx="260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(Inventory Cost)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445400" y="3922365"/>
            <a:ext cx="26035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(~62% Overall Margin)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47825"/>
            <a:ext cx="5048250" cy="4638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0"/>
          <p:cNvGraphicFramePr/>
          <p:nvPr/>
        </p:nvGraphicFramePr>
        <p:xfrm>
          <a:off x="7620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{1A4BD6D0-3358-49EF-846F-DCE4E489D94A}</a:tableStyleId>
              </a:tblPr>
              <a:tblGrid>
                <a:gridCol w="1519225"/>
                <a:gridCol w="1016800"/>
                <a:gridCol w="1447350"/>
                <a:gridCol w="1064875"/>
              </a:tblGrid>
              <a:tr h="4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Vial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Reimbursed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VN-0000010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$199.98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74.99%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VN-0000011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$199.98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74.99%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VN-0000012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$199.98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74.99%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0"/>
          <p:cNvSpPr txBox="1"/>
          <p:nvPr/>
        </p:nvSpPr>
        <p:spPr>
          <a:xfrm>
            <a:off x="6667500" y="4819650"/>
            <a:ext cx="4476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0% 20% 40% 60% 80%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6667500" y="4605337"/>
            <a:ext cx="447675" cy="119062"/>
          </a:xfrm>
          <a:prstGeom prst="roundRect">
            <a:avLst>
              <a:gd fmla="val 16667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243018" y="4486275"/>
            <a:ext cx="447675" cy="238125"/>
          </a:xfrm>
          <a:prstGeom prst="roundRect">
            <a:avLst>
              <a:gd fmla="val 16667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818536" y="4129087"/>
            <a:ext cx="447675" cy="595312"/>
          </a:xfrm>
          <a:prstGeom prst="roundRect">
            <a:avLst>
              <a:gd fmla="val 16667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8394055" y="3652837"/>
            <a:ext cx="447675" cy="1071562"/>
          </a:xfrm>
          <a:prstGeom prst="roundRect">
            <a:avLst>
              <a:gd fmla="val 16667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8969573" y="2819400"/>
            <a:ext cx="447675" cy="19050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9545091" y="2462212"/>
            <a:ext cx="447675" cy="2262187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0120610" y="3295650"/>
            <a:ext cx="447675" cy="1428750"/>
          </a:xfrm>
          <a:prstGeom prst="roundRect">
            <a:avLst>
              <a:gd fmla="val 16667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0696128" y="4248150"/>
            <a:ext cx="447675" cy="47625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62000" y="4605337"/>
            <a:ext cx="15192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281237" y="4605337"/>
            <a:ext cx="10167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98031" y="4605337"/>
            <a:ext cx="14473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745384" y="4605337"/>
            <a:ext cx="106486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62000" y="5091112"/>
            <a:ext cx="15192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281237" y="5091112"/>
            <a:ext cx="10167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298031" y="5091112"/>
            <a:ext cx="14473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745384" y="5091112"/>
            <a:ext cx="106486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62000" y="5576887"/>
            <a:ext cx="15192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281237" y="5576887"/>
            <a:ext cx="10167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298031" y="5576887"/>
            <a:ext cx="14473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745384" y="5576887"/>
            <a:ext cx="106486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Profitability Deep Dive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762000" y="164782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High-Margin Inventory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62000" y="20574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Analysis of individual vial performance indicates exceptionally high margins for specific inventory lots, reaching up to ~75%.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62000" y="3162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Top Performing Vials (Sample):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555581" y="1933575"/>
            <a:ext cx="47005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Profit Margin Distribution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667500" y="5105400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vials cluster around 60-70% margin.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57350"/>
            <a:ext cx="50482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47825"/>
            <a:ext cx="50482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657350"/>
            <a:ext cx="50482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Operational Gap: Unscanned Vials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62000" y="3657600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Impact Analysis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095375" y="1933575"/>
            <a:ext cx="465058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875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095375" y="268605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Vials Dispensed but NOT Scanned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095375" y="40290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Revenue Leakage: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These vials cannot be billed to insurance without proper dispense logs.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095375" y="48291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Compliance Risk: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Lack of traceability for administered drugs.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095375" y="56292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Inventory Drift: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Physical inventory does not match digital records, leading to ordering errors.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48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48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6483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75" y="2538412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28119"/>
            <a:ext cx="5048250" cy="258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2686050" y="3500437"/>
            <a:ext cx="12001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561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Denied Claims</a:t>
            </a:r>
            <a:endParaRPr/>
          </a:p>
        </p:txBody>
      </p:sp>
      <p:pic>
        <p:nvPicPr>
          <p:cNvPr descr="image.png" id="279" name="Google Shape;2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7375" y="2538412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5600" y="384244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Claims Analysis: Denials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6381750" y="1823144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Denial Inefficiencies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381750" y="2232719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the denial rate is relatively low (~3.5%), 561 denied claims represent missed revenue opportunities.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6705600" y="3823394"/>
            <a:ext cx="46505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Root Causes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705600" y="4109144"/>
            <a:ext cx="4429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Denials are statistically independent of the claim amount (as proven by the T-test). This implies administrative errors: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7172325" y="474910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7277100" y="4749105"/>
            <a:ext cx="3857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Incorrect coding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172325" y="505390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277100" y="5053905"/>
            <a:ext cx="3857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Eligibility verification failures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7172325" y="535870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7277100" y="5358705"/>
            <a:ext cx="3857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Missing documentation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762000" y="762000"/>
            <a:ext cx="48006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Predictive Modeling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762000" y="1438275"/>
            <a:ext cx="457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762000" y="202882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move from reactive analysis to proactive prevention, we prepared datasets for Machine Learning.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762000" y="332422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095375" y="3695700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Claim Denial (Binary: 0/1).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095375" y="4191000"/>
            <a:ext cx="4238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Created 9 engineered features using One-Hot Encoding to capture categorical nuances.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95375" y="5295900"/>
            <a:ext cx="4238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Split: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80/20 Train-Test split, stratified to maintain the ~3.5% denial proportion in both sets.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1095375" y="6400800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Train Random Forest/XGBoost models to flag high-risk claims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submission.</a:t>
            </a:r>
            <a:endParaRPr/>
          </a:p>
        </p:txBody>
      </p:sp>
      <p:pic>
        <p:nvPicPr>
          <p:cNvPr descr="image.png" id="307" name="Google Shape;3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14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10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314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4198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4782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Implementation: Data Merging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762000" y="2909887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 Implementation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762000" y="3319462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of the analysis relied on merging disparated datasets (invoices, logs, claims) to create a single "Full View" dataframe.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762000" y="4424362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code snippet demonstrates the Left Join strategy used to preserve all inventory records even if they lack a downstream claim.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47825"/>
            <a:ext cx="50482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47825"/>
            <a:ext cx="50482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Recommendation: Inventory Control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6381750" y="183832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Stop the Leakage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6381750" y="22479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address the 875 unscanned vials, we recommend: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6715125" y="30861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Mandatory Scanning: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Enforce barcode scanning at the point of dispensation. No scan = No dispense.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715125" y="38862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Real-Time Tracking: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Link every scan directly to a Patient ID and the dispensing staff member's username.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715125" y="49911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Daily Reconciliation: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report comparing "Vials Removed" vs. "Scans Logged" to catch discrepancies within 24 hours.</a:t>
            </a:r>
            <a:endParaRPr/>
          </a:p>
        </p:txBody>
      </p:sp>
      <p:pic>
        <p:nvPicPr>
          <p:cNvPr descr="image.png" id="336" name="Google Shape;3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05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05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0101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52687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52687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52687"/>
            <a:ext cx="336559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59675" y="2747962"/>
            <a:ext cx="2775049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765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765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Recommendation: Financial Controls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1057275" y="3309937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Pre-Claim Validation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1057275" y="3776662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automated eligibility checks and document validation layers to reduce the 561 denied claims.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4708475" y="3309937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Standardized Data Entry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4708475" y="3776662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strict data governance to prevent the massive missing values (42k) seen in the raw data.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8359675" y="3309937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New KPIs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8359675" y="3776662"/>
            <a:ext cx="2775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"Unscanned Vial Rate" and "Reimbursement Turnaround Time" as primary operational metrics.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7"/>
          <p:cNvSpPr/>
          <p:nvPr/>
        </p:nvSpPr>
        <p:spPr>
          <a:xfrm>
            <a:off x="762000" y="4157662"/>
            <a:ext cx="10668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4" name="Google Shape;3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8523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340712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750" y="328523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1200" y="345668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3125" y="357857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7912" y="345668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Future Roadmap</a:t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695325" y="4047232"/>
            <a:ext cx="2800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Phase 1: ETL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762000" y="4390132"/>
            <a:ext cx="2667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 pipelines for clean data integration.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4695825" y="4169122"/>
            <a:ext cx="2800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Phase 2: AI Model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4762500" y="4512022"/>
            <a:ext cx="2667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denial prediction model.</a:t>
            </a:r>
            <a:endParaRPr/>
          </a:p>
        </p:txBody>
      </p:sp>
      <p:sp>
        <p:nvSpPr>
          <p:cNvPr id="376" name="Google Shape;376;p27"/>
          <p:cNvSpPr txBox="1"/>
          <p:nvPr/>
        </p:nvSpPr>
        <p:spPr>
          <a:xfrm>
            <a:off x="8696325" y="4047232"/>
            <a:ext cx="2800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Phase 3: Forecasting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8763000" y="4390132"/>
            <a:ext cx="2667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 drug demand to optimize ordering.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/>
          <p:nvPr/>
        </p:nvSpPr>
        <p:spPr>
          <a:xfrm>
            <a:off x="-952500" y="4000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495300" y="2041177"/>
            <a:ext cx="11201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762000" y="3384202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762000" y="4321373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Analysis Team | Ophthalmology Ops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6228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4617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290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61277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4966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9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762000" y="248810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762000" y="347096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762000" y="445383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762000" y="523860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1857375" y="185573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https://eye7.b-cdn.net/wp-content/uploads/applanation-tonometry.jpg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1857375" y="210145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www.eye7.in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1857375" y="2640508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https://img.freepik.com/premium-vector/data-analyst-working-with-multiple-screens-showing-graphs-world-maps-office-environment-vector-illustration_126712-47463.jpg?w=360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1857375" y="308431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1857375" y="3623369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https://static.vecteezy.com/system/resources/previews/031/696/916/large_2x/medical-vials-moving-along-a-production-line-in-a-pharmaceutical-factory-ai-generated-photo.jpg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1857375" y="406717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1857375" y="460623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https://img.freepik.com/premium-photo/flat-abstract-ai-brain-with-digital-nodes-isolated-white-background-concept-as-stylized-abst_980716-599794.jpg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1857375" y="485194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1857375" y="5391001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https://media.istockphoto.com/id/1135420243/photo/pharmacist-scanning-medicine-bottle-with-barcode-scanner-in-chemist-shop.jpg?s=612x612&amp;w=is&amp;k=20&amp;c=FzhfpgrIZ6f8IxsG7FMzbeCmIPXAJMRkp2IOymXpDnw=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1857375" y="5834806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